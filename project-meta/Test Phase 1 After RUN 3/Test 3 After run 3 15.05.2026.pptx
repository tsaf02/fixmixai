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9"/>
  </p:notesMasterIdLst>
  <p:sldIdLst>
    <p:sldId id="256" r:id="rId2"/>
    <p:sldId id="265" r:id="rId3"/>
    <p:sldId id="266" r:id="rId4"/>
    <p:sldId id="268" r:id="rId5"/>
    <p:sldId id="267" r:id="rId6"/>
    <p:sldId id="261" r:id="rId7"/>
    <p:sldId id="264" r:id="rId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61B614AB-E5B6-453B-BD61-24CDE6EB41FB}" type="datetimeFigureOut">
              <a:rPr lang="he-IL" smtClean="0"/>
              <a:t>כ"ט/אייר/תשפ"ו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1A1FD8CB-76D8-478F-9F37-57EE50415947}" type="slidenum">
              <a:rPr lang="he-IL" smtClean="0"/>
              <a:t>‹#›</a:t>
            </a:fld>
            <a:endParaRPr lang="he-IL"/>
          </a:p>
        </p:txBody>
      </p:sp>
    </p:spTree>
    <p:extLst>
      <p:ext uri="{BB962C8B-B14F-4D97-AF65-F5344CB8AC3E}">
        <p14:creationId xmlns:p14="http://schemas.microsoft.com/office/powerpoint/2010/main" val="291407962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1A1FD8CB-76D8-478F-9F37-57EE50415947}" type="slidenum">
              <a:rPr lang="he-IL" smtClean="0"/>
              <a:t>2</a:t>
            </a:fld>
            <a:endParaRPr lang="he-IL"/>
          </a:p>
        </p:txBody>
      </p:sp>
    </p:spTree>
    <p:extLst>
      <p:ext uri="{BB962C8B-B14F-4D97-AF65-F5344CB8AC3E}">
        <p14:creationId xmlns:p14="http://schemas.microsoft.com/office/powerpoint/2010/main" val="811518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5A9463-D094-5ED4-DEFA-6D6A1CE872AB}"/>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C2EC840-BA15-3576-C4D7-20BAC876C3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4929CF0-FD40-7198-27EE-7ECE91D99798}"/>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E4E50ACE-8E88-3E7D-E504-C7F52F60B16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B3FFB57-8DE5-A273-BD87-4831575BAE76}"/>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161086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0050DA5-B291-89F0-2185-4B3F65A2748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77A0C64-B850-93AE-027C-1D260FA510BA}"/>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0ED1852-85B7-1BF7-DA75-F9BD59DDE19F}"/>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4CC2FBCE-E6A7-4C20-C1E8-73B4C4CF615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21CEFE0-703A-5453-113B-1DBB29D3C387}"/>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2082624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4034EB-509A-E9FD-4233-9779FD94A524}"/>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64D70D7-6B32-0F70-65CE-455B7CF735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9DD0BBF-528C-CDB1-BBF7-5F65A2099354}"/>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3705D857-7C5A-EE98-21AB-E4FAE6E1697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A694AD8-AFFB-94D3-0889-8321FB233E65}"/>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769323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DE009F-DB06-63BE-AB1C-D68BDEF59EC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B75A07B-A19F-46C0-65F8-A35D1FF045CF}"/>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27AB9DD5-158F-8127-284F-934CBD0CEA6D}"/>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67164795-4A7E-4555-6289-59E7765EABEE}"/>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6" name="מציין מיקום של כותרת תחתונה 5">
            <a:extLst>
              <a:ext uri="{FF2B5EF4-FFF2-40B4-BE49-F238E27FC236}">
                <a16:creationId xmlns:a16="http://schemas.microsoft.com/office/drawing/2014/main" id="{B857E40C-42CF-3350-B6C7-15D9EBCC93F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2E3B90EF-84DC-5560-7C1C-C55D526BD25B}"/>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4146895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359095-BE60-7044-F691-1299EDE7DB37}"/>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5721981-E680-C4EB-F164-88204B8022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3CA2D81F-F949-A5FC-5D6C-C42EE3B76A43}"/>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974DC1CE-AB35-AC19-46BD-E2FD5C9DD4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DEF3FC4-E227-C43C-DA9B-2A3B5C9E269C}"/>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741AC6A3-C969-AD34-AA13-2FFDF1B5BC2B}"/>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8" name="מציין מיקום של כותרת תחתונה 7">
            <a:extLst>
              <a:ext uri="{FF2B5EF4-FFF2-40B4-BE49-F238E27FC236}">
                <a16:creationId xmlns:a16="http://schemas.microsoft.com/office/drawing/2014/main" id="{472166E9-7FE9-40B9-C181-F796CEAE2064}"/>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CB4505A8-6FDD-4F88-337E-3B94571EC0EE}"/>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3030576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1E844A-0CC6-14EF-95E9-1E5B092C5C5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CA2E98F5-4556-FF34-EBCC-084A0374D2BC}"/>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4" name="מציין מיקום של כותרת תחתונה 3">
            <a:extLst>
              <a:ext uri="{FF2B5EF4-FFF2-40B4-BE49-F238E27FC236}">
                <a16:creationId xmlns:a16="http://schemas.microsoft.com/office/drawing/2014/main" id="{25E3E20F-C142-9D31-91D3-DBBD604F1D6E}"/>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89D75A5F-BC7B-9600-42F1-5AD471760F5D}"/>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2358885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6353D71-4EA3-0289-E726-3B2E6CE4E542}"/>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3" name="מציין מיקום של כותרת תחתונה 2">
            <a:extLst>
              <a:ext uri="{FF2B5EF4-FFF2-40B4-BE49-F238E27FC236}">
                <a16:creationId xmlns:a16="http://schemas.microsoft.com/office/drawing/2014/main" id="{F63F5E88-CF7B-823E-B53D-F707D397B8A8}"/>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ED5DF521-A59E-859D-362E-0816D87748F2}"/>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3989743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A5E6B4-5E38-B197-1D8D-297E15C243B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DCDD037-1D5E-5AB0-229F-BA7EFF468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CAC0FE7F-15D1-17CE-5931-AA7B2E531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2E59366E-727D-AAB4-CDE7-E3FAAAAD1EBE}"/>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6" name="מציין מיקום של כותרת תחתונה 5">
            <a:extLst>
              <a:ext uri="{FF2B5EF4-FFF2-40B4-BE49-F238E27FC236}">
                <a16:creationId xmlns:a16="http://schemas.microsoft.com/office/drawing/2014/main" id="{4B2ED227-E6B0-B37D-4068-EF980E71B42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ABA46D6-25F5-EE20-766D-D5D6BCD122B4}"/>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3157093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1030D97-FE6C-3A4D-7CCC-F945CC27673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81B69CC6-6D00-D60E-EED5-C8125F84A7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A70614E3-47A4-2E8A-E544-DD01409F7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1F20C1F2-E34F-FCCD-A639-2C9E2C3B69FF}"/>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6" name="מציין מיקום של כותרת תחתונה 5">
            <a:extLst>
              <a:ext uri="{FF2B5EF4-FFF2-40B4-BE49-F238E27FC236}">
                <a16:creationId xmlns:a16="http://schemas.microsoft.com/office/drawing/2014/main" id="{D7EB91BF-0126-A88C-DDE1-13DB84CFBBD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6013EBE-1B99-CD8B-D70C-4C98F5399804}"/>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112198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7B00F1D-9238-3BBE-31B1-21A1036A675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B33EFDF2-32AE-A89F-5180-72D60B78DE0B}"/>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E94014C9-F035-220B-F1AE-8E8DA1DCD4C4}"/>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D3F1DC31-B24B-1CA5-35E2-9F4B652CB28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2A86874-BBD2-540A-DACD-B5888001E8AD}"/>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3294043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A965E23C-5A70-BF39-B1D1-E013E5F0158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3D448CF-3493-830B-D897-249C255E2648}"/>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6AF1ED4-3418-172A-43D3-FFC6302A0B8A}"/>
              </a:ext>
            </a:extLst>
          </p:cNvPr>
          <p:cNvSpPr>
            <a:spLocks noGrp="1"/>
          </p:cNvSpPr>
          <p:nvPr>
            <p:ph type="dt" sz="half" idx="10"/>
          </p:nvPr>
        </p:nvSpPr>
        <p:spPr/>
        <p:txBody>
          <a:body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0234E5E3-9309-3B92-EA42-CDD01FD1308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B280F2E-8500-5FEB-FCD6-09BB3023A75F}"/>
              </a:ext>
            </a:extLst>
          </p:cNvPr>
          <p:cNvSpPr>
            <a:spLocks noGrp="1"/>
          </p:cNvSpPr>
          <p:nvPr>
            <p:ph type="sldNum" sz="quarter" idx="12"/>
          </p:nvPr>
        </p:nvSpPr>
        <p:spPr/>
        <p:txBody>
          <a:bodyPr/>
          <a:lstStyle/>
          <a:p>
            <a:fld id="{CA13176A-0455-4DF1-AE00-E7A942250D61}" type="slidenum">
              <a:rPr lang="he-IL" smtClean="0"/>
              <a:t>‹#›</a:t>
            </a:fld>
            <a:endParaRPr lang="he-IL"/>
          </a:p>
        </p:txBody>
      </p:sp>
    </p:spTree>
    <p:extLst>
      <p:ext uri="{BB962C8B-B14F-4D97-AF65-F5344CB8AC3E}">
        <p14:creationId xmlns:p14="http://schemas.microsoft.com/office/powerpoint/2010/main" val="1354096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EF5BBF6-CDA5-CDE7-A881-2E0A90F9FDB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B77B999-994F-96B2-D22C-3DE09B210630}"/>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7D5CD77-A2AF-99D2-3576-9559C7972954}"/>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3A9B568-2A34-4E6F-B1A1-A22646862D51}" type="datetimeFigureOut">
              <a:rPr lang="he-IL" smtClean="0"/>
              <a:t>כ"ט/אייר/תשפ"ו</a:t>
            </a:fld>
            <a:endParaRPr lang="he-IL"/>
          </a:p>
        </p:txBody>
      </p:sp>
      <p:sp>
        <p:nvSpPr>
          <p:cNvPr id="5" name="מציין מיקום של כותרת תחתונה 4">
            <a:extLst>
              <a:ext uri="{FF2B5EF4-FFF2-40B4-BE49-F238E27FC236}">
                <a16:creationId xmlns:a16="http://schemas.microsoft.com/office/drawing/2014/main" id="{EC8C1CCC-2EBC-2D8A-805B-1D3A5CB81A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45785AE1-71FB-4B4E-E4FB-5CD708B06D2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A13176A-0455-4DF1-AE00-E7A942250D61}" type="slidenum">
              <a:rPr lang="he-IL" smtClean="0"/>
              <a:t>‹#›</a:t>
            </a:fld>
            <a:endParaRPr lang="he-IL"/>
          </a:p>
        </p:txBody>
      </p:sp>
    </p:spTree>
    <p:extLst>
      <p:ext uri="{BB962C8B-B14F-4D97-AF65-F5344CB8AC3E}">
        <p14:creationId xmlns:p14="http://schemas.microsoft.com/office/powerpoint/2010/main" val="2780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chatgpt.com/canvas/shared/6a0771a8fb8881918441b1f1ee71ee2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chatgpt.com/canvas/shared/6a0771a8fb8881918441b1f1ee71ee26"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124447-FD53-8FAC-6E96-1305289AB6E0}"/>
              </a:ext>
            </a:extLst>
          </p:cNvPr>
          <p:cNvSpPr>
            <a:spLocks noGrp="1"/>
          </p:cNvSpPr>
          <p:nvPr>
            <p:ph type="ctrTitle"/>
          </p:nvPr>
        </p:nvSpPr>
        <p:spPr/>
        <p:txBody>
          <a:bodyPr anchor="ctr">
            <a:normAutofit/>
          </a:bodyPr>
          <a:lstStyle/>
          <a:p>
            <a:r>
              <a:rPr lang="en-US" sz="8000" dirty="0"/>
              <a:t>FIXMIX</a:t>
            </a:r>
            <a:endParaRPr lang="he-IL" sz="8000" dirty="0"/>
          </a:p>
        </p:txBody>
      </p:sp>
      <p:sp>
        <p:nvSpPr>
          <p:cNvPr id="3" name="כותרת משנה 2">
            <a:extLst>
              <a:ext uri="{FF2B5EF4-FFF2-40B4-BE49-F238E27FC236}">
                <a16:creationId xmlns:a16="http://schemas.microsoft.com/office/drawing/2014/main" id="{F556D6A0-830A-8DC8-498B-B012CCE70089}"/>
              </a:ext>
            </a:extLst>
          </p:cNvPr>
          <p:cNvSpPr>
            <a:spLocks noGrp="1"/>
          </p:cNvSpPr>
          <p:nvPr>
            <p:ph type="subTitle" idx="1"/>
          </p:nvPr>
        </p:nvSpPr>
        <p:spPr/>
        <p:txBody>
          <a:bodyPr/>
          <a:lstStyle/>
          <a:p>
            <a:r>
              <a:rPr lang="en-US" sz="5400" dirty="0">
                <a:solidFill>
                  <a:schemeClr val="accent1">
                    <a:lumMod val="75000"/>
                  </a:schemeClr>
                </a:solidFill>
              </a:rPr>
              <a:t>Test after Run 3 15.05.2026</a:t>
            </a:r>
          </a:p>
          <a:p>
            <a:endParaRPr lang="he-IL" dirty="0"/>
          </a:p>
        </p:txBody>
      </p:sp>
    </p:spTree>
    <p:extLst>
      <p:ext uri="{BB962C8B-B14F-4D97-AF65-F5344CB8AC3E}">
        <p14:creationId xmlns:p14="http://schemas.microsoft.com/office/powerpoint/2010/main" val="1240402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34858B6-A7FE-1A50-842D-AEFEE5EC2565}"/>
              </a:ext>
            </a:extLst>
          </p:cNvPr>
          <p:cNvPicPr>
            <a:picLocks noChangeAspect="1"/>
          </p:cNvPicPr>
          <p:nvPr/>
        </p:nvPicPr>
        <p:blipFill>
          <a:blip r:embed="rId3"/>
          <a:stretch>
            <a:fillRect/>
          </a:stretch>
        </p:blipFill>
        <p:spPr>
          <a:xfrm>
            <a:off x="7506193" y="1061414"/>
            <a:ext cx="4425543" cy="4234611"/>
          </a:xfrm>
          <a:prstGeom prst="rect">
            <a:avLst/>
          </a:prstGeom>
        </p:spPr>
      </p:pic>
      <p:sp>
        <p:nvSpPr>
          <p:cNvPr id="4" name="תיבת טקסט 3">
            <a:extLst>
              <a:ext uri="{FF2B5EF4-FFF2-40B4-BE49-F238E27FC236}">
                <a16:creationId xmlns:a16="http://schemas.microsoft.com/office/drawing/2014/main" id="{AA3C9D61-506F-88B9-C691-5078FC2F64E0}"/>
              </a:ext>
            </a:extLst>
          </p:cNvPr>
          <p:cNvSpPr txBox="1"/>
          <p:nvPr/>
        </p:nvSpPr>
        <p:spPr>
          <a:xfrm>
            <a:off x="212435" y="322750"/>
            <a:ext cx="7245930" cy="5450851"/>
          </a:xfrm>
          <a:prstGeom prst="rect">
            <a:avLst/>
          </a:prstGeom>
          <a:solidFill>
            <a:schemeClr val="accent6">
              <a:lumMod val="20000"/>
              <a:lumOff val="80000"/>
            </a:schemeClr>
          </a:solidFill>
        </p:spPr>
        <p:txBody>
          <a:bodyPr wrap="square" rtlCol="1">
            <a:spAutoFit/>
          </a:bodyPr>
          <a:lstStyle/>
          <a:p>
            <a:pPr algn="ctr" rtl="0">
              <a:lnSpc>
                <a:spcPct val="150000"/>
              </a:lnSpc>
            </a:pPr>
            <a:r>
              <a:rPr lang="en-US" b="1" u="sng" dirty="0"/>
              <a:t>PHASE 1 — Planed Development Roadmap:</a:t>
            </a:r>
          </a:p>
          <a:p>
            <a:pPr marL="342900" indent="-342900" algn="l" rtl="0">
              <a:lnSpc>
                <a:spcPct val="150000"/>
              </a:lnSpc>
              <a:buAutoNum type="arabicPeriod"/>
            </a:pPr>
            <a:r>
              <a:rPr lang="en-US" dirty="0"/>
              <a:t>Add an automation feature that copies and pastes any new text generated in the selected chat window — no manual copy action required by the user.</a:t>
            </a:r>
          </a:p>
          <a:p>
            <a:pPr marL="342900" indent="-342900" algn="l" rtl="0">
              <a:lnSpc>
                <a:spcPct val="150000"/>
              </a:lnSpc>
              <a:buAutoNum type="arabicPeriod"/>
            </a:pPr>
            <a:r>
              <a:rPr lang="en-US" dirty="0"/>
              <a:t>Fix UI/UX per Tzafrir's feedback.</a:t>
            </a:r>
          </a:p>
          <a:p>
            <a:pPr marL="342900" indent="-342900" algn="l" rtl="0">
              <a:lnSpc>
                <a:spcPct val="150000"/>
              </a:lnSpc>
              <a:buAutoNum type="arabicPeriod"/>
            </a:pPr>
            <a:r>
              <a:rPr lang="en-US" dirty="0"/>
              <a:t>Build a Copy Text button and a Save Text button — define and develop supported export formats:</a:t>
            </a:r>
          </a:p>
          <a:p>
            <a:pPr algn="l" rtl="0">
              <a:lnSpc>
                <a:spcPct val="150000"/>
              </a:lnSpc>
            </a:pPr>
            <a:r>
              <a:rPr lang="en-US" dirty="0"/>
              <a:t>(Google Docs, Word, Google Sheets, Excel, PDF, or Markdown only)?</a:t>
            </a:r>
          </a:p>
          <a:p>
            <a:pPr algn="r" rtl="0">
              <a:lnSpc>
                <a:spcPct val="150000"/>
              </a:lnSpc>
            </a:pPr>
            <a:r>
              <a:rPr lang="en-US" dirty="0"/>
              <a:t>4. Show a confirmation dialog after clicking "Clear" — ask whether to save the text before permanent deletion, or implement auto-save for all content.</a:t>
            </a:r>
          </a:p>
          <a:p>
            <a:pPr algn="r" rtl="0">
              <a:lnSpc>
                <a:spcPct val="150000"/>
              </a:lnSpc>
            </a:pPr>
            <a:r>
              <a:rPr lang="en-US" dirty="0"/>
              <a:t>* Explore creating a local folder on each user's machine when FIXMIX is installed. Any text cleared from FIXMIX would be auto-saved there. (Can be developed before deployment.)</a:t>
            </a:r>
          </a:p>
        </p:txBody>
      </p:sp>
      <p:sp>
        <p:nvSpPr>
          <p:cNvPr id="7" name="תיבת טקסט 6">
            <a:extLst>
              <a:ext uri="{FF2B5EF4-FFF2-40B4-BE49-F238E27FC236}">
                <a16:creationId xmlns:a16="http://schemas.microsoft.com/office/drawing/2014/main" id="{41F827A3-E84E-22CA-0758-79F7E59BA0F9}"/>
              </a:ext>
            </a:extLst>
          </p:cNvPr>
          <p:cNvSpPr txBox="1"/>
          <p:nvPr/>
        </p:nvSpPr>
        <p:spPr>
          <a:xfrm>
            <a:off x="6756096" y="322750"/>
            <a:ext cx="5223469" cy="738664"/>
          </a:xfrm>
          <a:prstGeom prst="rect">
            <a:avLst/>
          </a:prstGeom>
          <a:solidFill>
            <a:schemeClr val="accent5">
              <a:lumMod val="20000"/>
              <a:lumOff val="80000"/>
            </a:schemeClr>
          </a:solidFill>
        </p:spPr>
        <p:txBody>
          <a:bodyPr wrap="square" rtlCol="1">
            <a:spAutoFit/>
          </a:bodyPr>
          <a:lstStyle/>
          <a:p>
            <a:pPr algn="l" rtl="0"/>
            <a:r>
              <a:rPr lang="en-US" sz="2400" dirty="0"/>
              <a:t>Current app status: all features working </a:t>
            </a:r>
            <a:r>
              <a:rPr lang="en-US" dirty="0"/>
              <a:t>as expected. </a:t>
            </a:r>
            <a:r>
              <a:rPr lang="en-US" sz="1400" dirty="0"/>
              <a:t>List of issues and proposed changes on next slide</a:t>
            </a:r>
          </a:p>
        </p:txBody>
      </p:sp>
      <p:sp>
        <p:nvSpPr>
          <p:cNvPr id="10" name="תיבת טקסט 9">
            <a:extLst>
              <a:ext uri="{FF2B5EF4-FFF2-40B4-BE49-F238E27FC236}">
                <a16:creationId xmlns:a16="http://schemas.microsoft.com/office/drawing/2014/main" id="{FBD7576B-29F1-E12C-6F3B-FCE10B6F9084}"/>
              </a:ext>
            </a:extLst>
          </p:cNvPr>
          <p:cNvSpPr txBox="1"/>
          <p:nvPr/>
        </p:nvSpPr>
        <p:spPr>
          <a:xfrm>
            <a:off x="212435" y="5966085"/>
            <a:ext cx="11767130" cy="646331"/>
          </a:xfrm>
          <a:prstGeom prst="rect">
            <a:avLst/>
          </a:prstGeom>
          <a:noFill/>
        </p:spPr>
        <p:txBody>
          <a:bodyPr wrap="square" rtlCol="1">
            <a:spAutoFit/>
          </a:bodyPr>
          <a:lstStyle/>
          <a:p>
            <a:pPr algn="l" rtl="0"/>
            <a:r>
              <a:rPr lang="en-US" dirty="0"/>
              <a:t>Deep research about UIA:  </a:t>
            </a:r>
            <a:r>
              <a:rPr lang="en-US" u="sng" dirty="0">
                <a:hlinkClick r:id="rId4"/>
              </a:rPr>
              <a:t>https://chatgpt.com/canvas/shared/6a0771a8fb8881918441b1f1ee71ee26</a:t>
            </a:r>
            <a:endParaRPr lang="he-IL" dirty="0"/>
          </a:p>
          <a:p>
            <a:pPr algn="l" rtl="0"/>
            <a:endParaRPr lang="en-US" dirty="0"/>
          </a:p>
        </p:txBody>
      </p:sp>
    </p:spTree>
    <p:extLst>
      <p:ext uri="{BB962C8B-B14F-4D97-AF65-F5344CB8AC3E}">
        <p14:creationId xmlns:p14="http://schemas.microsoft.com/office/powerpoint/2010/main" val="195525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46056-005B-A25A-CC3F-6C471A6B5433}"/>
            </a:ext>
          </a:extLst>
        </p:cNvPr>
        <p:cNvGrpSpPr/>
        <p:nvPr/>
      </p:nvGrpSpPr>
      <p:grpSpPr>
        <a:xfrm>
          <a:off x="0" y="0"/>
          <a:ext cx="0" cy="0"/>
          <a:chOff x="0" y="0"/>
          <a:chExt cx="0" cy="0"/>
        </a:xfrm>
      </p:grpSpPr>
      <p:sp>
        <p:nvSpPr>
          <p:cNvPr id="9" name="תיבת טקסט 8">
            <a:extLst>
              <a:ext uri="{FF2B5EF4-FFF2-40B4-BE49-F238E27FC236}">
                <a16:creationId xmlns:a16="http://schemas.microsoft.com/office/drawing/2014/main" id="{73499B0C-5D1B-1425-E485-0D500DC1A43C}"/>
              </a:ext>
            </a:extLst>
          </p:cNvPr>
          <p:cNvSpPr txBox="1"/>
          <p:nvPr/>
        </p:nvSpPr>
        <p:spPr>
          <a:xfrm>
            <a:off x="173379" y="56138"/>
            <a:ext cx="11610110" cy="6801862"/>
          </a:xfrm>
          <a:prstGeom prst="rect">
            <a:avLst/>
          </a:prstGeom>
          <a:solidFill>
            <a:schemeClr val="accent6">
              <a:lumMod val="20000"/>
              <a:lumOff val="80000"/>
            </a:schemeClr>
          </a:solidFill>
        </p:spPr>
        <p:txBody>
          <a:bodyPr wrap="square">
            <a:spAutoFit/>
          </a:bodyPr>
          <a:lstStyle/>
          <a:p>
            <a:pPr algn="l" rtl="0"/>
            <a:r>
              <a:rPr lang="en-US" sz="2000" dirty="0">
                <a:solidFill>
                  <a:srgbClr val="FF0000"/>
                </a:solidFill>
              </a:rPr>
              <a:t>Bug fixes &amp; open questions. </a:t>
            </a:r>
            <a:r>
              <a:rPr lang="en-US" sz="2000" dirty="0"/>
              <a:t>List of problems and possible changes</a:t>
            </a:r>
          </a:p>
          <a:p>
            <a:pPr algn="l" rtl="0"/>
            <a:endParaRPr lang="en-US" sz="1600" dirty="0">
              <a:solidFill>
                <a:srgbClr val="FF0000"/>
              </a:solidFill>
            </a:endParaRPr>
          </a:p>
          <a:p>
            <a:pPr algn="l" rtl="0"/>
            <a:r>
              <a:rPr lang="en-US" sz="1600" dirty="0">
                <a:solidFill>
                  <a:srgbClr val="FF0000"/>
                </a:solidFill>
              </a:rPr>
              <a:t>1. </a:t>
            </a:r>
            <a:r>
              <a:rPr lang="en-US" sz="1600" dirty="0"/>
              <a:t>Conflict with voice-dictation apps (e.g. Whisper Flow).</a:t>
            </a:r>
          </a:p>
          <a:p>
            <a:pPr algn="l" rtl="0"/>
            <a:r>
              <a:rPr lang="en-US" sz="1600" dirty="0"/>
              <a:t>If the user dictated the first text into the app via a voice tool (before performing any manual copy), the window lock latches onto Whisper Flow instead of the intended target application.</a:t>
            </a:r>
          </a:p>
          <a:p>
            <a:pPr algn="l" rtl="0"/>
            <a:r>
              <a:rPr lang="en-US" sz="1600" dirty="0"/>
              <a:t>Need to investigate: can voice-dictation apps be detected via clipboard events, and should text arriving from them be excluded?</a:t>
            </a:r>
          </a:p>
          <a:p>
            <a:pPr algn="l" rtl="0"/>
            <a:endParaRPr lang="en-US" sz="1600" dirty="0"/>
          </a:p>
          <a:p>
            <a:pPr algn="l" rtl="0"/>
            <a:r>
              <a:rPr lang="en-US" sz="1600" dirty="0"/>
              <a:t>2. Add a reorder toggle for text blocks — so users can swap the order of copied blocks (move a block up or down) if they copied them out of sequence before saving. Each pasted block in FIXMIX should have an up-arrow and a down-arrow icon; clicking swaps its position with the adjacent block. (See following slides.)</a:t>
            </a:r>
          </a:p>
          <a:p>
            <a:pPr algn="l" rtl="0"/>
            <a:endParaRPr lang="en-US" sz="1600" dirty="0"/>
          </a:p>
          <a:p>
            <a:pPr algn="l" rtl="0"/>
            <a:r>
              <a:rPr lang="en-US" sz="1600" dirty="0"/>
              <a:t>3. Artifacts &amp; Canvases — when a table or text is copied from an Artifact: after any edit in the source app the entire Artifact is re-pushed to FIXMIX.</a:t>
            </a:r>
          </a:p>
          <a:p>
            <a:pPr algn="l" rtl="0"/>
            <a:r>
              <a:rPr lang="en-US" sz="1600" dirty="0"/>
              <a:t>Why it matters: in the Artifact panel of the source app, edits happen in-place and the view persists. In FIXMIX, every minor edit re-renders the full Artifact from the top, requiring a scroll-down. That is acceptable, but it implies:</a:t>
            </a:r>
          </a:p>
          <a:p>
            <a:pPr marL="342900" indent="-342900" algn="l" rtl="0">
              <a:buFont typeface="+mj-lt"/>
              <a:buAutoNum type="alphaUcPeriod"/>
            </a:pPr>
            <a:r>
              <a:rPr lang="en-US" sz="1600" dirty="0"/>
              <a:t>When building the copy/save feature in FIXMIX, we will need a region- or block-selection UI so the user can choose what to copy/save before acting. (See following slides.)</a:t>
            </a:r>
          </a:p>
          <a:p>
            <a:pPr marL="342900" indent="-342900" algn="l" rtl="0">
              <a:buFont typeface="+mj-lt"/>
              <a:buAutoNum type="alphaUcPeriod"/>
            </a:pPr>
            <a:r>
              <a:rPr lang="en-US" sz="1600" dirty="0"/>
              <a:t>It is unclear whether — or how — this will work once the UIA automation feature is built, because no new clipboard event is generated when the source app edits an Artifact in-place.</a:t>
            </a:r>
          </a:p>
          <a:p>
            <a:pPr marL="342900" indent="-342900" algn="l" rtl="0">
              <a:buFont typeface="+mj-lt"/>
              <a:buAutoNum type="alphaUcPeriod"/>
            </a:pPr>
            <a:r>
              <a:rPr lang="en-US" sz="1600" dirty="0"/>
              <a:t>General note (not limited to Canvas): when new text is appended below the visible area in FIXMIX, the user gets no feedback that new content exists and needs to scroll. We need a solution — ideally a user-configurable option: auto-scroll on new content (like most AI chat tools) vs. no auto-scroll, but with a persistent visual indicator at the bottom of the screen showing that there is more content below. Even better: a small badge next to that indicator counting how many new blocks have been added below the fold.</a:t>
            </a:r>
          </a:p>
          <a:p>
            <a:pPr algn="l" rtl="0"/>
            <a:endParaRPr lang="en-US" sz="1600" dirty="0"/>
          </a:p>
          <a:p>
            <a:pPr algn="l" rtl="0"/>
            <a:r>
              <a:rPr lang="en-US" sz="1600" dirty="0"/>
              <a:t>4. more UI update in the next pages and images at this same folder </a:t>
            </a:r>
          </a:p>
          <a:p>
            <a:pPr algn="l" rtl="0"/>
            <a:r>
              <a:rPr lang="en-US" sz="1600" dirty="0"/>
              <a:t>C:\Users\ortsa\Dropbox\Apps and agents building\</a:t>
            </a:r>
            <a:r>
              <a:rPr lang="en-US" sz="1600" dirty="0" err="1"/>
              <a:t>FixMixAI</a:t>
            </a:r>
            <a:r>
              <a:rPr lang="en-US" sz="1600" dirty="0"/>
              <a:t>\project-meta\Test Phase 1 After RUN 3</a:t>
            </a:r>
            <a:endParaRPr lang="en-US" sz="1600" b="1" dirty="0"/>
          </a:p>
        </p:txBody>
      </p:sp>
    </p:spTree>
    <p:extLst>
      <p:ext uri="{BB962C8B-B14F-4D97-AF65-F5344CB8AC3E}">
        <p14:creationId xmlns:p14="http://schemas.microsoft.com/office/powerpoint/2010/main" val="2310277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732E-2D0F-819F-A21F-026FF807D5D9}"/>
            </a:ext>
          </a:extLst>
        </p:cNvPr>
        <p:cNvGrpSpPr/>
        <p:nvPr/>
      </p:nvGrpSpPr>
      <p:grpSpPr>
        <a:xfrm>
          <a:off x="0" y="0"/>
          <a:ext cx="0" cy="0"/>
          <a:chOff x="0" y="0"/>
          <a:chExt cx="0" cy="0"/>
        </a:xfrm>
      </p:grpSpPr>
      <p:sp>
        <p:nvSpPr>
          <p:cNvPr id="2" name="תיבת טקסט 1">
            <a:extLst>
              <a:ext uri="{FF2B5EF4-FFF2-40B4-BE49-F238E27FC236}">
                <a16:creationId xmlns:a16="http://schemas.microsoft.com/office/drawing/2014/main" id="{9DE83EA8-A790-C939-5D86-0A0FD63C1635}"/>
              </a:ext>
            </a:extLst>
          </p:cNvPr>
          <p:cNvSpPr txBox="1"/>
          <p:nvPr/>
        </p:nvSpPr>
        <p:spPr>
          <a:xfrm>
            <a:off x="1371600" y="1092200"/>
            <a:ext cx="9804400" cy="3693319"/>
          </a:xfrm>
          <a:prstGeom prst="rect">
            <a:avLst/>
          </a:prstGeom>
          <a:solidFill>
            <a:srgbClr val="92D050"/>
          </a:solidFill>
        </p:spPr>
        <p:txBody>
          <a:bodyPr wrap="square" rtlCol="1">
            <a:spAutoFit/>
          </a:bodyPr>
          <a:lstStyle/>
          <a:p>
            <a:pPr algn="l" rtl="0"/>
            <a:r>
              <a:rPr lang="en-US" dirty="0"/>
              <a:t>If UIA auto works then we want to change the UX:</a:t>
            </a:r>
          </a:p>
          <a:p>
            <a:pPr algn="l" rtl="0"/>
            <a:r>
              <a:rPr lang="en-US" dirty="0"/>
              <a:t>1. We don’t need to switch </a:t>
            </a:r>
            <a:r>
              <a:rPr lang="en-US" dirty="0" err="1"/>
              <a:t>onq</a:t>
            </a:r>
            <a:r>
              <a:rPr lang="en-US" dirty="0"/>
              <a:t> off the “eye” since we always using it.</a:t>
            </a:r>
          </a:p>
          <a:p>
            <a:pPr algn="l" rtl="0"/>
            <a:r>
              <a:rPr lang="en-US" dirty="0"/>
              <a:t>2. We want to let user choose at the beginning of the journey to select: “I choose” option or “Auto All” option. In option 1 the user needs to copy in order for the text to fixed and display on </a:t>
            </a:r>
            <a:r>
              <a:rPr lang="en-US" dirty="0" err="1"/>
              <a:t>FixMix</a:t>
            </a:r>
            <a:r>
              <a:rPr lang="en-US" dirty="0"/>
              <a:t>.</a:t>
            </a:r>
          </a:p>
          <a:p>
            <a:pPr algn="l" rtl="0"/>
            <a:r>
              <a:rPr lang="en-US" dirty="0"/>
              <a:t>In option 2: All test is shown on Fix Mix. </a:t>
            </a:r>
          </a:p>
          <a:p>
            <a:pPr algn="l" rtl="0"/>
            <a:endParaRPr lang="en-US" dirty="0"/>
          </a:p>
          <a:p>
            <a:pPr algn="l" rtl="0"/>
            <a:r>
              <a:rPr lang="en-US" dirty="0"/>
              <a:t>So UI changes:</a:t>
            </a:r>
          </a:p>
          <a:p>
            <a:pPr marL="285750" indent="-285750" algn="l" rtl="0">
              <a:buFontTx/>
              <a:buChar char="-"/>
            </a:pPr>
            <a:r>
              <a:rPr lang="en-US" dirty="0"/>
              <a:t>“Eye” icon always on- not on the top icons. It can go down the low part of the screen. And can we develop this “eye” icon as a monitor for the auto pasting. + another icon for monitoring the auto copy in case user chooses “Aoto all”- out of this logic we need to notify user if one of them is not working, and to write notification what do.</a:t>
            </a:r>
          </a:p>
          <a:p>
            <a:pPr marL="285750" indent="-285750" algn="l" rtl="0">
              <a:buFontTx/>
              <a:buChar char="-"/>
            </a:pPr>
            <a:r>
              <a:rPr lang="en-US" dirty="0"/>
              <a:t>The main UI changes as in PNG: C:\Users\ortsa\Dropbox\Apps and agents building\</a:t>
            </a:r>
            <a:r>
              <a:rPr lang="en-US" dirty="0" err="1"/>
              <a:t>FixMixAI</a:t>
            </a:r>
            <a:r>
              <a:rPr lang="en-US" dirty="0"/>
              <a:t>\project-meta\Test Phase 1 After RUN 3\new UI if auto copy will woirk.png</a:t>
            </a:r>
          </a:p>
        </p:txBody>
      </p:sp>
    </p:spTree>
    <p:extLst>
      <p:ext uri="{BB962C8B-B14F-4D97-AF65-F5344CB8AC3E}">
        <p14:creationId xmlns:p14="http://schemas.microsoft.com/office/powerpoint/2010/main" val="26158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6555677-612E-E655-15F8-409E7A7D76C2}"/>
              </a:ext>
            </a:extLst>
          </p:cNvPr>
          <p:cNvPicPr>
            <a:picLocks noChangeAspect="1"/>
          </p:cNvPicPr>
          <p:nvPr/>
        </p:nvPicPr>
        <p:blipFill>
          <a:blip r:embed="rId2">
            <a:extLst>
              <a:ext uri="{28A0092B-C50C-407E-A947-70E740481C1C}">
                <a14:useLocalDpi xmlns:a14="http://schemas.microsoft.com/office/drawing/2010/main" val="0"/>
              </a:ext>
            </a:extLst>
          </a:blip>
          <a:srcRect l="5909" r="52879"/>
          <a:stretch>
            <a:fillRect/>
          </a:stretch>
        </p:blipFill>
        <p:spPr>
          <a:xfrm>
            <a:off x="5347853" y="1450109"/>
            <a:ext cx="6732397" cy="4594490"/>
          </a:xfrm>
          <a:prstGeom prst="rect">
            <a:avLst/>
          </a:prstGeom>
        </p:spPr>
      </p:pic>
      <p:pic>
        <p:nvPicPr>
          <p:cNvPr id="5" name="תמונה 4">
            <a:extLst>
              <a:ext uri="{FF2B5EF4-FFF2-40B4-BE49-F238E27FC236}">
                <a16:creationId xmlns:a16="http://schemas.microsoft.com/office/drawing/2014/main" id="{DD1DD551-3038-0D0C-E5DA-B7BAE9B1EFEB}"/>
              </a:ext>
            </a:extLst>
          </p:cNvPr>
          <p:cNvPicPr>
            <a:picLocks noChangeAspect="1"/>
          </p:cNvPicPr>
          <p:nvPr/>
        </p:nvPicPr>
        <p:blipFill>
          <a:blip r:embed="rId2">
            <a:extLst>
              <a:ext uri="{28A0092B-C50C-407E-A947-70E740481C1C}">
                <a14:useLocalDpi xmlns:a14="http://schemas.microsoft.com/office/drawing/2010/main" val="0"/>
              </a:ext>
            </a:extLst>
          </a:blip>
          <a:srcRect l="51363" r="12045"/>
          <a:stretch>
            <a:fillRect/>
          </a:stretch>
        </p:blipFill>
        <p:spPr>
          <a:xfrm>
            <a:off x="452583" y="2615599"/>
            <a:ext cx="4461164" cy="3429000"/>
          </a:xfrm>
          <a:prstGeom prst="rect">
            <a:avLst/>
          </a:prstGeom>
        </p:spPr>
      </p:pic>
      <p:sp>
        <p:nvSpPr>
          <p:cNvPr id="6" name="תיבת טקסט 5">
            <a:extLst>
              <a:ext uri="{FF2B5EF4-FFF2-40B4-BE49-F238E27FC236}">
                <a16:creationId xmlns:a16="http://schemas.microsoft.com/office/drawing/2014/main" id="{8F5BC11C-2844-F5A2-647C-6D0D6B140EAC}"/>
              </a:ext>
            </a:extLst>
          </p:cNvPr>
          <p:cNvSpPr txBox="1"/>
          <p:nvPr/>
        </p:nvSpPr>
        <p:spPr>
          <a:xfrm>
            <a:off x="1366982" y="2430933"/>
            <a:ext cx="2198254" cy="369332"/>
          </a:xfrm>
          <a:prstGeom prst="rect">
            <a:avLst/>
          </a:prstGeom>
          <a:solidFill>
            <a:schemeClr val="accent6">
              <a:lumMod val="20000"/>
              <a:lumOff val="80000"/>
            </a:schemeClr>
          </a:solidFill>
        </p:spPr>
        <p:txBody>
          <a:bodyPr wrap="square" rtlCol="1">
            <a:spAutoFit/>
          </a:bodyPr>
          <a:lstStyle/>
          <a:p>
            <a:pPr algn="ctr"/>
            <a:r>
              <a:rPr lang="en-US" dirty="0"/>
              <a:t>Original app </a:t>
            </a:r>
            <a:endParaRPr lang="he-IL" dirty="0"/>
          </a:p>
        </p:txBody>
      </p:sp>
      <p:sp>
        <p:nvSpPr>
          <p:cNvPr id="7" name="תיבת טקסט 6">
            <a:extLst>
              <a:ext uri="{FF2B5EF4-FFF2-40B4-BE49-F238E27FC236}">
                <a16:creationId xmlns:a16="http://schemas.microsoft.com/office/drawing/2014/main" id="{936C82B8-A03E-0933-6D9C-2F9C0D943E69}"/>
              </a:ext>
            </a:extLst>
          </p:cNvPr>
          <p:cNvSpPr txBox="1"/>
          <p:nvPr/>
        </p:nvSpPr>
        <p:spPr>
          <a:xfrm>
            <a:off x="7614924" y="1450109"/>
            <a:ext cx="2198254" cy="369332"/>
          </a:xfrm>
          <a:prstGeom prst="rect">
            <a:avLst/>
          </a:prstGeom>
          <a:solidFill>
            <a:schemeClr val="accent6">
              <a:lumMod val="20000"/>
              <a:lumOff val="80000"/>
            </a:schemeClr>
          </a:solidFill>
        </p:spPr>
        <p:txBody>
          <a:bodyPr wrap="square" rtlCol="1">
            <a:spAutoFit/>
          </a:bodyPr>
          <a:lstStyle/>
          <a:p>
            <a:pPr algn="ctr"/>
            <a:r>
              <a:rPr lang="en-US" dirty="0"/>
              <a:t>FIXMIX app </a:t>
            </a:r>
            <a:endParaRPr lang="he-IL" dirty="0"/>
          </a:p>
        </p:txBody>
      </p:sp>
      <p:cxnSp>
        <p:nvCxnSpPr>
          <p:cNvPr id="9" name="מחבר חץ ישר 8">
            <a:extLst>
              <a:ext uri="{FF2B5EF4-FFF2-40B4-BE49-F238E27FC236}">
                <a16:creationId xmlns:a16="http://schemas.microsoft.com/office/drawing/2014/main" id="{D9565C37-1472-6532-7B55-5CBB177989D0}"/>
              </a:ext>
            </a:extLst>
          </p:cNvPr>
          <p:cNvCxnSpPr/>
          <p:nvPr/>
        </p:nvCxnSpPr>
        <p:spPr>
          <a:xfrm>
            <a:off x="4849091" y="3814618"/>
            <a:ext cx="498762" cy="140392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1" name="מחבר חץ ישר 10">
            <a:extLst>
              <a:ext uri="{FF2B5EF4-FFF2-40B4-BE49-F238E27FC236}">
                <a16:creationId xmlns:a16="http://schemas.microsoft.com/office/drawing/2014/main" id="{3C3B8C2C-968C-D595-A410-05B2716CC5E7}"/>
              </a:ext>
            </a:extLst>
          </p:cNvPr>
          <p:cNvCxnSpPr/>
          <p:nvPr/>
        </p:nvCxnSpPr>
        <p:spPr>
          <a:xfrm>
            <a:off x="4913747" y="4544291"/>
            <a:ext cx="628071" cy="8312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nvGrpSpPr>
          <p:cNvPr id="17" name="קבוצה 16">
            <a:extLst>
              <a:ext uri="{FF2B5EF4-FFF2-40B4-BE49-F238E27FC236}">
                <a16:creationId xmlns:a16="http://schemas.microsoft.com/office/drawing/2014/main" id="{45FCD488-AC78-C219-0138-4FEC5F0615F2}"/>
              </a:ext>
            </a:extLst>
          </p:cNvPr>
          <p:cNvGrpSpPr/>
          <p:nvPr/>
        </p:nvGrpSpPr>
        <p:grpSpPr>
          <a:xfrm>
            <a:off x="1045747" y="115393"/>
            <a:ext cx="10841453" cy="369332"/>
            <a:chOff x="-1727434" y="323579"/>
            <a:chExt cx="11748890" cy="369332"/>
          </a:xfrm>
        </p:grpSpPr>
        <p:sp>
          <p:nvSpPr>
            <p:cNvPr id="13" name="תיבת טקסט 12">
              <a:extLst>
                <a:ext uri="{FF2B5EF4-FFF2-40B4-BE49-F238E27FC236}">
                  <a16:creationId xmlns:a16="http://schemas.microsoft.com/office/drawing/2014/main" id="{0062C7AF-E294-4F31-A890-EB767FD241B3}"/>
                </a:ext>
              </a:extLst>
            </p:cNvPr>
            <p:cNvSpPr txBox="1"/>
            <p:nvPr/>
          </p:nvSpPr>
          <p:spPr>
            <a:xfrm>
              <a:off x="-1727434" y="323579"/>
              <a:ext cx="11748890" cy="369332"/>
            </a:xfrm>
            <a:prstGeom prst="rect">
              <a:avLst/>
            </a:prstGeom>
            <a:solidFill>
              <a:schemeClr val="accent6">
                <a:lumMod val="20000"/>
                <a:lumOff val="80000"/>
              </a:schemeClr>
            </a:solidFill>
          </p:spPr>
          <p:txBody>
            <a:bodyPr wrap="square" rtlCol="1">
              <a:spAutoFit/>
            </a:bodyPr>
            <a:lstStyle/>
            <a:p>
              <a:pPr algn="l"/>
              <a:r>
                <a:rPr lang="en-US" dirty="0"/>
                <a:t>New UI (1): on each text at </a:t>
              </a:r>
              <a:r>
                <a:rPr lang="en-US" dirty="0" err="1"/>
                <a:t>FixMix</a:t>
              </a:r>
              <a:r>
                <a:rPr lang="en-US" dirty="0"/>
                <a:t>: change text block with the one above    Or change it with the one below</a:t>
              </a:r>
              <a:endParaRPr lang="he-IL" dirty="0"/>
            </a:p>
          </p:txBody>
        </p:sp>
        <p:sp>
          <p:nvSpPr>
            <p:cNvPr id="14" name="חץ: למעלה 13">
              <a:extLst>
                <a:ext uri="{FF2B5EF4-FFF2-40B4-BE49-F238E27FC236}">
                  <a16:creationId xmlns:a16="http://schemas.microsoft.com/office/drawing/2014/main" id="{69B0A188-8D4B-8EFC-999C-8D1C9BA0455F}"/>
                </a:ext>
              </a:extLst>
            </p:cNvPr>
            <p:cNvSpPr/>
            <p:nvPr/>
          </p:nvSpPr>
          <p:spPr>
            <a:xfrm>
              <a:off x="5689417" y="348345"/>
              <a:ext cx="147782" cy="26754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חץ: למטה 14">
              <a:extLst>
                <a:ext uri="{FF2B5EF4-FFF2-40B4-BE49-F238E27FC236}">
                  <a16:creationId xmlns:a16="http://schemas.microsoft.com/office/drawing/2014/main" id="{00166E87-3271-D204-7792-3384A020DAB7}"/>
                </a:ext>
              </a:extLst>
            </p:cNvPr>
            <p:cNvSpPr/>
            <p:nvPr/>
          </p:nvSpPr>
          <p:spPr>
            <a:xfrm>
              <a:off x="9218491" y="354151"/>
              <a:ext cx="129309" cy="2771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16" name="תיבת טקסט 15">
            <a:extLst>
              <a:ext uri="{FF2B5EF4-FFF2-40B4-BE49-F238E27FC236}">
                <a16:creationId xmlns:a16="http://schemas.microsoft.com/office/drawing/2014/main" id="{BAD2443D-902A-384D-5376-1E5F08796F87}"/>
              </a:ext>
            </a:extLst>
          </p:cNvPr>
          <p:cNvSpPr txBox="1"/>
          <p:nvPr/>
        </p:nvSpPr>
        <p:spPr>
          <a:xfrm>
            <a:off x="4849091" y="636068"/>
            <a:ext cx="3778331" cy="369332"/>
          </a:xfrm>
          <a:prstGeom prst="rect">
            <a:avLst/>
          </a:prstGeom>
          <a:solidFill>
            <a:schemeClr val="accent6">
              <a:lumMod val="40000"/>
              <a:lumOff val="60000"/>
            </a:schemeClr>
          </a:solidFill>
        </p:spPr>
        <p:txBody>
          <a:bodyPr wrap="square" rtlCol="1">
            <a:spAutoFit/>
          </a:bodyPr>
          <a:lstStyle/>
          <a:p>
            <a:pPr algn="l" rtl="0"/>
            <a:r>
              <a:rPr lang="en-US" dirty="0"/>
              <a:t>See screenshot: </a:t>
            </a:r>
            <a:r>
              <a:rPr lang="en-US" b="1" dirty="0"/>
              <a:t>“</a:t>
            </a:r>
            <a:r>
              <a:rPr lang="en-US" b="1" dirty="0" err="1"/>
              <a:t>swich</a:t>
            </a:r>
            <a:r>
              <a:rPr lang="en-US" b="1" dirty="0"/>
              <a:t> top down” </a:t>
            </a:r>
            <a:r>
              <a:rPr lang="en-US" dirty="0"/>
              <a:t>l</a:t>
            </a:r>
          </a:p>
        </p:txBody>
      </p:sp>
    </p:spTree>
    <p:extLst>
      <p:ext uri="{BB962C8B-B14F-4D97-AF65-F5344CB8AC3E}">
        <p14:creationId xmlns:p14="http://schemas.microsoft.com/office/powerpoint/2010/main" val="109258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BCC5-494A-2D0A-D0F0-BEA638B171B7}"/>
            </a:ext>
          </a:extLst>
        </p:cNvPr>
        <p:cNvGrpSpPr/>
        <p:nvPr/>
      </p:nvGrpSpPr>
      <p:grpSpPr>
        <a:xfrm>
          <a:off x="0" y="0"/>
          <a:ext cx="0" cy="0"/>
          <a:chOff x="0" y="0"/>
          <a:chExt cx="0" cy="0"/>
        </a:xfrm>
      </p:grpSpPr>
      <p:pic>
        <p:nvPicPr>
          <p:cNvPr id="3" name="תמונה 2">
            <a:extLst>
              <a:ext uri="{FF2B5EF4-FFF2-40B4-BE49-F238E27FC236}">
                <a16:creationId xmlns:a16="http://schemas.microsoft.com/office/drawing/2014/main" id="{6FDDE2C7-77B8-AE1E-4E9E-1B76B50ED136}"/>
              </a:ext>
            </a:extLst>
          </p:cNvPr>
          <p:cNvPicPr>
            <a:picLocks noChangeAspect="1"/>
          </p:cNvPicPr>
          <p:nvPr/>
        </p:nvPicPr>
        <p:blipFill>
          <a:blip r:embed="rId2">
            <a:extLst>
              <a:ext uri="{28A0092B-C50C-407E-A947-70E740481C1C}">
                <a14:useLocalDpi xmlns:a14="http://schemas.microsoft.com/office/drawing/2010/main" val="0"/>
              </a:ext>
            </a:extLst>
          </a:blip>
          <a:srcRect l="5909" r="52879"/>
          <a:stretch>
            <a:fillRect/>
          </a:stretch>
        </p:blipFill>
        <p:spPr>
          <a:xfrm>
            <a:off x="4943364" y="881809"/>
            <a:ext cx="6732397" cy="4594490"/>
          </a:xfrm>
          <a:prstGeom prst="rect">
            <a:avLst/>
          </a:prstGeom>
        </p:spPr>
      </p:pic>
      <p:sp>
        <p:nvSpPr>
          <p:cNvPr id="7" name="תיבת טקסט 6">
            <a:extLst>
              <a:ext uri="{FF2B5EF4-FFF2-40B4-BE49-F238E27FC236}">
                <a16:creationId xmlns:a16="http://schemas.microsoft.com/office/drawing/2014/main" id="{3CEA0FAA-56C2-DB15-3ED4-8120C8DB0F41}"/>
              </a:ext>
            </a:extLst>
          </p:cNvPr>
          <p:cNvSpPr txBox="1"/>
          <p:nvPr/>
        </p:nvSpPr>
        <p:spPr>
          <a:xfrm>
            <a:off x="7878080" y="512477"/>
            <a:ext cx="2198254" cy="369332"/>
          </a:xfrm>
          <a:prstGeom prst="rect">
            <a:avLst/>
          </a:prstGeom>
          <a:solidFill>
            <a:schemeClr val="accent6">
              <a:lumMod val="20000"/>
              <a:lumOff val="80000"/>
            </a:schemeClr>
          </a:solidFill>
        </p:spPr>
        <p:txBody>
          <a:bodyPr wrap="square" rtlCol="1">
            <a:spAutoFit/>
          </a:bodyPr>
          <a:lstStyle/>
          <a:p>
            <a:pPr algn="ctr"/>
            <a:r>
              <a:rPr lang="en-US" dirty="0"/>
              <a:t>FIXMIX app </a:t>
            </a:r>
            <a:endParaRPr lang="he-IL" dirty="0"/>
          </a:p>
        </p:txBody>
      </p:sp>
      <p:cxnSp>
        <p:nvCxnSpPr>
          <p:cNvPr id="11" name="מחבר חץ ישר 10">
            <a:extLst>
              <a:ext uri="{FF2B5EF4-FFF2-40B4-BE49-F238E27FC236}">
                <a16:creationId xmlns:a16="http://schemas.microsoft.com/office/drawing/2014/main" id="{B55368FC-CB88-5ABC-8DF4-4CB85859DFB5}"/>
              </a:ext>
            </a:extLst>
          </p:cNvPr>
          <p:cNvCxnSpPr/>
          <p:nvPr/>
        </p:nvCxnSpPr>
        <p:spPr>
          <a:xfrm>
            <a:off x="4913747" y="4544291"/>
            <a:ext cx="628071" cy="8312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3" name="תיבת טקסט 12">
            <a:extLst>
              <a:ext uri="{FF2B5EF4-FFF2-40B4-BE49-F238E27FC236}">
                <a16:creationId xmlns:a16="http://schemas.microsoft.com/office/drawing/2014/main" id="{78F307D2-8CCB-B12A-7559-64BE9681A711}"/>
              </a:ext>
            </a:extLst>
          </p:cNvPr>
          <p:cNvSpPr txBox="1"/>
          <p:nvPr/>
        </p:nvSpPr>
        <p:spPr>
          <a:xfrm>
            <a:off x="200823" y="843677"/>
            <a:ext cx="4543106" cy="2739211"/>
          </a:xfrm>
          <a:prstGeom prst="rect">
            <a:avLst/>
          </a:prstGeom>
          <a:solidFill>
            <a:schemeClr val="accent6">
              <a:lumMod val="20000"/>
              <a:lumOff val="80000"/>
            </a:schemeClr>
          </a:solidFill>
        </p:spPr>
        <p:txBody>
          <a:bodyPr wrap="square" rtlCol="1">
            <a:spAutoFit/>
          </a:bodyPr>
          <a:lstStyle/>
          <a:p>
            <a:pPr algn="l"/>
            <a:r>
              <a:rPr lang="en-US" sz="2800" dirty="0"/>
              <a:t>Selecting “save or copy” area</a:t>
            </a:r>
          </a:p>
          <a:p>
            <a:pPr algn="l"/>
            <a:endParaRPr lang="en-US" dirty="0"/>
          </a:p>
          <a:p>
            <a:pPr algn="l"/>
            <a:r>
              <a:rPr lang="en-US" b="1" dirty="0"/>
              <a:t>New UI (2): </a:t>
            </a:r>
            <a:r>
              <a:rPr lang="en-US" dirty="0"/>
              <a:t>Before saving or copying from </a:t>
            </a:r>
            <a:r>
              <a:rPr lang="en-US" dirty="0" err="1"/>
              <a:t>FixMix</a:t>
            </a:r>
            <a:r>
              <a:rPr lang="en-US" dirty="0"/>
              <a:t> the user need to choose the text blocks or the part to save/ copy. How can we develop it and what UI UX can we add? The “selection of what to save or copy” could be shown only after users clicked the future “Save” Or “Copy” bottoms   </a:t>
            </a:r>
            <a:endParaRPr lang="he-IL" dirty="0"/>
          </a:p>
        </p:txBody>
      </p:sp>
      <p:sp>
        <p:nvSpPr>
          <p:cNvPr id="4" name="תיבת טקסט 3">
            <a:extLst>
              <a:ext uri="{FF2B5EF4-FFF2-40B4-BE49-F238E27FC236}">
                <a16:creationId xmlns:a16="http://schemas.microsoft.com/office/drawing/2014/main" id="{F89F4A98-9CD7-FEE0-7A1D-1DC98BFA2D2A}"/>
              </a:ext>
            </a:extLst>
          </p:cNvPr>
          <p:cNvSpPr txBox="1"/>
          <p:nvPr/>
        </p:nvSpPr>
        <p:spPr>
          <a:xfrm>
            <a:off x="1682946" y="5646117"/>
            <a:ext cx="10152003" cy="923330"/>
          </a:xfrm>
          <a:prstGeom prst="rect">
            <a:avLst/>
          </a:prstGeom>
          <a:noFill/>
        </p:spPr>
        <p:txBody>
          <a:bodyPr wrap="square">
            <a:spAutoFit/>
          </a:bodyPr>
          <a:lstStyle/>
          <a:p>
            <a:pPr algn="l" rtl="0"/>
            <a:r>
              <a:rPr lang="en-US" sz="1800" b="1" dirty="0"/>
              <a:t>New UI 3: </a:t>
            </a:r>
            <a:r>
              <a:rPr lang="en-US" sz="1800" dirty="0"/>
              <a:t>LTR text rendering — see screenshot at the PNG: </a:t>
            </a:r>
            <a:r>
              <a:rPr lang="en-US" dirty="0"/>
              <a:t>PNG name: </a:t>
            </a:r>
            <a:r>
              <a:rPr lang="en-US" b="1" dirty="0"/>
              <a:t>“Less left alignment to LTR text” </a:t>
            </a:r>
          </a:p>
          <a:p>
            <a:pPr algn="l" rtl="0"/>
            <a:r>
              <a:rPr lang="en-US" sz="1800" dirty="0"/>
              <a:t>"C:UsersortsaDropboxApps and agents </a:t>
            </a:r>
            <a:r>
              <a:rPr lang="en-US" sz="1800" dirty="0" err="1"/>
              <a:t>buildingFixMixAIproject-metaTest</a:t>
            </a:r>
            <a:r>
              <a:rPr lang="en-US" sz="1800" dirty="0"/>
              <a:t> Phase 1 After RUN 3Less left alignment to LTR text.png“   </a:t>
            </a:r>
            <a:endParaRPr lang="he-IL" dirty="0"/>
          </a:p>
        </p:txBody>
      </p:sp>
    </p:spTree>
    <p:extLst>
      <p:ext uri="{BB962C8B-B14F-4D97-AF65-F5344CB8AC3E}">
        <p14:creationId xmlns:p14="http://schemas.microsoft.com/office/powerpoint/2010/main" val="188351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92BBDEAB-A71C-6D36-08B1-6448A1CBF550}"/>
              </a:ext>
            </a:extLst>
          </p:cNvPr>
          <p:cNvSpPr txBox="1"/>
          <p:nvPr/>
        </p:nvSpPr>
        <p:spPr>
          <a:xfrm>
            <a:off x="1637562" y="431074"/>
            <a:ext cx="8988830" cy="1964512"/>
          </a:xfrm>
          <a:prstGeom prst="rect">
            <a:avLst/>
          </a:prstGeom>
          <a:solidFill>
            <a:schemeClr val="accent6">
              <a:lumMod val="20000"/>
              <a:lumOff val="80000"/>
            </a:schemeClr>
          </a:solidFill>
        </p:spPr>
        <p:txBody>
          <a:bodyPr wrap="square" rtlCol="1">
            <a:spAutoFit/>
          </a:bodyPr>
          <a:lstStyle/>
          <a:p>
            <a:pPr algn="l" rtl="0">
              <a:lnSpc>
                <a:spcPct val="150000"/>
              </a:lnSpc>
            </a:pPr>
            <a:r>
              <a:rPr lang="en-US" sz="2800" dirty="0"/>
              <a:t>Research: After developing the automation feature- Can Artifact or Canvas Auto copy changes automatically? </a:t>
            </a:r>
          </a:p>
          <a:p>
            <a:pPr algn="l" rtl="0">
              <a:lnSpc>
                <a:spcPct val="150000"/>
              </a:lnSpc>
            </a:pPr>
            <a:r>
              <a:rPr lang="en-US" sz="2800" dirty="0"/>
              <a:t>Is there a solution via a UIA update event?</a:t>
            </a:r>
          </a:p>
        </p:txBody>
      </p:sp>
      <p:sp>
        <p:nvSpPr>
          <p:cNvPr id="3" name="תיבת טקסט 2">
            <a:extLst>
              <a:ext uri="{FF2B5EF4-FFF2-40B4-BE49-F238E27FC236}">
                <a16:creationId xmlns:a16="http://schemas.microsoft.com/office/drawing/2014/main" id="{E495FE2E-8B4D-EABD-8363-B49177BEC59D}"/>
              </a:ext>
            </a:extLst>
          </p:cNvPr>
          <p:cNvSpPr txBox="1"/>
          <p:nvPr/>
        </p:nvSpPr>
        <p:spPr>
          <a:xfrm>
            <a:off x="1637562" y="2645442"/>
            <a:ext cx="10178473" cy="3139321"/>
          </a:xfrm>
          <a:prstGeom prst="rect">
            <a:avLst/>
          </a:prstGeom>
          <a:solidFill>
            <a:schemeClr val="accent5">
              <a:lumMod val="20000"/>
              <a:lumOff val="80000"/>
            </a:schemeClr>
          </a:solidFill>
        </p:spPr>
        <p:txBody>
          <a:bodyPr wrap="square" rtlCol="1">
            <a:spAutoFit/>
          </a:bodyPr>
          <a:lstStyle/>
          <a:p>
            <a:pPr algn="l" rtl="0"/>
            <a:r>
              <a:rPr lang="en-US" dirty="0"/>
              <a:t>Attached research covers:</a:t>
            </a:r>
          </a:p>
          <a:p>
            <a:pPr algn="l" rtl="0"/>
            <a:r>
              <a:rPr lang="en-US" dirty="0"/>
              <a:t>What types of data flow through UIAutomation</a:t>
            </a:r>
          </a:p>
          <a:p>
            <a:pPr algn="l" rtl="0"/>
            <a:r>
              <a:rPr lang="en-US" dirty="0"/>
              <a:t>The semantics of each data type</a:t>
            </a:r>
          </a:p>
          <a:p>
            <a:pPr algn="l" rtl="0"/>
            <a:r>
              <a:rPr lang="en-US" dirty="0"/>
              <a:t>Whether it is logical / graphical</a:t>
            </a:r>
          </a:p>
          <a:p>
            <a:pPr algn="l" rtl="0"/>
            <a:r>
              <a:rPr lang="en-US" dirty="0"/>
              <a:t>How stable it is</a:t>
            </a:r>
          </a:p>
          <a:p>
            <a:pPr algn="l" rtl="0"/>
            <a:r>
              <a:rPr lang="en-US" dirty="0"/>
              <a:t>What doesn't pass through UIA at all</a:t>
            </a:r>
          </a:p>
          <a:p>
            <a:pPr algn="l" rtl="0"/>
            <a:r>
              <a:rPr lang="en-US" dirty="0"/>
              <a:t>Also included — a Pipeline and analysis of:</a:t>
            </a:r>
          </a:p>
          <a:p>
            <a:pPr algn="l" rtl="0"/>
            <a:r>
              <a:rPr lang="en-US" dirty="0"/>
              <a:t>Pull vs. Push</a:t>
            </a:r>
          </a:p>
          <a:p>
            <a:pPr algn="l" rtl="0"/>
            <a:r>
              <a:rPr lang="en-US" dirty="0"/>
              <a:t>Why AI Agents rely on it</a:t>
            </a:r>
          </a:p>
          <a:p>
            <a:pPr algn="l" rtl="0"/>
            <a:r>
              <a:rPr lang="en-US" dirty="0"/>
              <a:t>Where it breaks in modern UI stacks (Electron / Canvas / Games, etc.)</a:t>
            </a:r>
          </a:p>
          <a:p>
            <a:pPr algn="l" rtl="0"/>
            <a:r>
              <a:rPr lang="en-US" u="sng" dirty="0">
                <a:hlinkClick r:id="rId2"/>
              </a:rPr>
              <a:t>https://chatgpt.com/canvas/shared/6a0771a8fb8881918441b1f1ee71ee26</a:t>
            </a:r>
            <a:endParaRPr lang="en-US" dirty="0"/>
          </a:p>
        </p:txBody>
      </p:sp>
    </p:spTree>
    <p:extLst>
      <p:ext uri="{BB962C8B-B14F-4D97-AF65-F5344CB8AC3E}">
        <p14:creationId xmlns:p14="http://schemas.microsoft.com/office/powerpoint/2010/main" val="3455230909"/>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lef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07FB91-C4A9-4DB2-A5C7-6B6A9755139C}">
  <we:reference id="wa200010001" version="1.0.0.1" store="en-US" storeType="OMEX"/>
  <we:alternateReferences>
    <we:reference id="WA200010001" version="1.0.0.1" store="WA200010001" storeType="OMEX"/>
  </we:alternateReferences>
  <we:properties>
    <we:property name="claude.fileId" value="&quot;80d2f27e-0604-4332-9352-a7381890bc4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291</TotalTime>
  <Words>1100</Words>
  <Application>Microsoft Office PowerPoint</Application>
  <PresentationFormat>מסך רחב</PresentationFormat>
  <Paragraphs>59</Paragraphs>
  <Slides>7</Slides>
  <Notes>1</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7</vt:i4>
      </vt:variant>
    </vt:vector>
  </HeadingPairs>
  <TitlesOfParts>
    <vt:vector size="11" baseType="lpstr">
      <vt:lpstr>Arial</vt:lpstr>
      <vt:lpstr>Calibri</vt:lpstr>
      <vt:lpstr>Calibri Light</vt:lpstr>
      <vt:lpstr>ערכת נושא Office</vt:lpstr>
      <vt:lpstr>FIXMIX</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tsafrir or</dc:creator>
  <cp:lastModifiedBy>tsafrir or</cp:lastModifiedBy>
  <cp:revision>5</cp:revision>
  <dcterms:created xsi:type="dcterms:W3CDTF">2026-05-15T16:21:18Z</dcterms:created>
  <dcterms:modified xsi:type="dcterms:W3CDTF">2026-05-15T23:09:47Z</dcterms:modified>
</cp:coreProperties>
</file>